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dias. Hoy vamos a presentar nuestro proyecto de clasificacion del riesgo de inundacion por parroquia en la provincia de Esmeraldas, Ecuador, correspondiente al segundo parcial de la materia de Aprendizaje Automatico.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Ecuador es uno de los paises mas vulnerables a inundaciones en America Latina. Su ubicacion en el tropico, la presencia de la Cordillera de los Andes y la influencia de corrientes oceanicas como El Nino generan condiciones que favorecen lluvias torrenciales e inundaciones recurrentes, especialmente en las regiones Costa y Amazonia.</a:t>
            </a:r>
          </a:p>
          <a:p/>
          <a:p>
            <a:r>
              <a:t>Nuestra zona de estudio es la provincia de Esmeraldas, en la Costa norte del Ecuador. Presenta precipitacion anual superior a 2,000 mm en la mayoria de sus parroquias, una altitud media de apenas 17 metros sobre el nivel del mar, y una densa red hidrografica con rios como el Esmeraldas, el Cayapas y el Santiago, ademas de numerosos esteros.</a:t>
            </a:r>
          </a:p>
          <a:p/>
          <a:p>
            <a:r>
              <a:t>Segun datos de la Secretaria de Gestion de Riesgos, en la ultima decada se han registrado mas de 30 eventos de inundacion en la provincia, afectando a miles de familias y generando perdidas economicas significativas en los sectores agricola, vial y residencial.</a:t>
            </a:r>
          </a:p>
          <a:p/>
          <a:p>
            <a:r>
              <a:t>Sin embargo, la mayoria de los estudios de riesgo existentes se basan unicamente en variables climaticas y geograficas, dejando de lado factores socioterritoriales como la calidad de la vivienda, el acceso a servicios basicos o la densidad poblacional.</a:t>
            </a:r>
          </a:p>
          <a:p/>
          <a:p>
            <a:r>
              <a:t>Por eso, nuestro objetivo es construir un modelo de clasificacion supervisada que integre ambas dimensiones --la fisica y la social-- para asignar a cada parroquia un nivel de riesgo de inundacion: Bajo, Medio o Alto, utilizando unicamente datos abiertos y oficiales del Ecuador.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Trabajamos con 19 variables predictoras provenientes de 4 fuentes oficiales.</a:t>
            </a:r>
          </a:p>
          <a:p/>
          <a:p>
            <a:r>
              <a:t>Las 6 variables climaticas y geograficas fueron obtenidas del INAMHI y OpenStreetMap: precipitacion anual, altitud media, pendiente del terreno, distancia a cuerpos de agua, densidad poblacional y porcentaje de area urbanizada.</a:t>
            </a:r>
          </a:p>
          <a:p/>
          <a:p>
            <a:r>
              <a:t>Las 13 variables sociodemograficas provienen del Censo INEC 2022. Procesamos los microdatos de 4 tablas censales --Poblacion, Hogar, Vivienda y Emigrantes-- y los agregamos a nivel de parroquia usando los codigos DPA. Obtenemos indicadores como edad media de la poblacion, porcentaje de acceso a agua potable, alcantarillado, electricidad, calidad de paredes y techos, y personas por dormitorio como indicador de hacinamiento.</a:t>
            </a:r>
          </a:p>
          <a:p/>
          <a:p>
            <a:r>
              <a:t>Esta ultima variable --personas por dormitorio-- es nuestra variable derivada, calculada como el cociente entre el total de personas en el hogar y el numero de dormitorios, cumpliendo con el requisito del proyecto.</a:t>
            </a:r>
          </a:p>
          <a:p/>
          <a:p>
            <a:r>
              <a:t>La variable objetivo la construimos nosotros mismos combinando dos fuentes del SNGRE: el mapa de zonas susceptibles a inundaciones y el registro historico de eventos COE2. No usamos datasets con etiquetas predefinidas. La distribucion final fue: Bajo 45.6%, Medio 36.6% y Alto 17.8%.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analisis exploratorio identificamos patrones claros: las parroquias con riesgo alto tienen significativamente menor distancia a cuerpos de agua, menor pendiente del terreno y mayor precipitacion anual que las parroquias de riesgo bajo.</a:t>
            </a:r>
          </a:p>
          <a:p/>
          <a:p>
            <a:r>
              <a:t>La matriz de correlacion confirmo estos hallazgos. La variable mas correlacionada con el riesgo es la distancia a cuerpos de agua, con una correlacion negativa de -0.48, lo que significa que a menor distancia al agua, mayor es el riesgo de inundacion. Le sigue la pendiente del terreno con -0.31: los terrenos planos acumulan agua mas facilmente. Y en tercer lugar la precipitacion anual con +0.28.</a:t>
            </a:r>
          </a:p>
          <a:p/>
          <a:p>
            <a:r>
              <a:t>Estos resultados son fisicamente coherentes: una parroquia ubicada cerca de un rio, en un terreno plano y con alta pluviosidad tiene una probabilidad mucho mayor de inundarse.</a:t>
            </a:r>
          </a:p>
          <a:p/>
          <a:p>
            <a:r>
              <a:t>Las variables del INEC, aunque con correlaciones mas bajas, aportan informacion complementaria sobre la vulnerabilidad social. Por ejemplo, el hacinamiento del hogar tiene correlacion positiva con el riesgo, mientras que la calidad de la vivienda tiene correlacion negativa.</a:t>
            </a:r>
          </a:p>
          <a:p/>
          <a:p>
            <a:r>
              <a:t>En cuanto a la calidad de los datos, no encontramos valores faltantes en las variables climaticas y geograficas. Los pocos valores nulos en las variables INEC corresponden a parroquias con poblacion muy dispersa y fueron imputados con valor cero. No se encontraron parroquias duplicadas.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Entrenamos 5 modelos de clasificacion: Regresion Logistica como linea base, Arbol de Decision, Random Forest, SVM con kernel RBF y un Voting Classifier con votacion blanda que promedia las probabilidades de LR, RF y SVM. Todos los modelos usaron RobustScaler para normalizar las variables. Dividimos el dataset en 70% para entrenamiento y 30% para prueba, con estratificacion para mantener la proporcion de clases.</a:t>
            </a:r>
          </a:p>
          <a:p/>
          <a:p>
            <a:r>
              <a:t>Aplicamos GridSearchCV con validacion cruzada de 5 pliegues sobre Random Forest, explorando 4 hiperparametros: numero de arboles, profundidad maxima, minimo de muestras para dividir y minimo de muestras por hoja. La mejor combinacion fue profundidad maxima de 5, 200 arboles, minimo de 2 muestras para dividir y 2 para hojas, con un F1-score de validacion cruzada de 0.7826.</a:t>
            </a:r>
          </a:p>
          <a:p/>
          <a:p>
            <a:r>
              <a:t>En el conjunto de prueba, el Arbol de Decision obtuvo el mejor rendimiento con 85% de accuracy y 84.6% de F1-score. Sin embargo, Random Forest optimizado tuvo mejor rendimiento en validacion cruzada (0.78 vs 0.75), lo que indica que generaliza mejor aunque haya obtenido menor puntaje en test.</a:t>
            </a:r>
          </a:p>
          <a:p/>
          <a:p>
            <a:r>
              <a:t>Queremos destacar que la metrica mas relevante para la gestion del riesgo es el Recall, porque en contextos de desastres naturales es preferible clasificar una parroquia como riesgosa aunque no lo sea, a no detectar una que si esta en riesgo.</a:t>
            </a:r>
          </a:p>
          <a:p/>
          <a:p>
            <a:r>
              <a:t>La curva ROC mostro un AUC promedio de 0.89, con 0.92 para la clase Bajo, 0.87 para Medio y 0.88 para Alto, indicando una buena capacidad discriminativa del modelo.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analisis de importancia de variables de Random Forest revelo que el factor mas determinante es la distancia a cuerpos de agua con un 23.3% de importancia relativa, seguido de la pendiente del terreno con 15.2% y la precipitacion anual con 14.3%. Estos tres factores confirman los fundamentos fisicos del riesgo de inundacion.</a:t>
            </a:r>
          </a:p>
          <a:p/>
          <a:p>
            <a:r>
              <a:t>Las variables del censo INEC con mayor peso fueron el hacinamiento del hogar con 3.2%, personas por dormitorio con 2.7% y la edad media de la poblacion con aproximadamente 2%. Aunque su contribucion individual es menor que las variables geograficas, en conjunto demuestran que la vulnerabilidad social es un factor relevante.</a:t>
            </a:r>
          </a:p>
          <a:p/>
          <a:p>
            <a:r>
              <a:t>El modelo final fue empaquetado con Joblib e integrado en una aplicacion web Flask con mapa interactivo Leaflet, desplegada en Render y accesible en riesgo-inundacion.onrender.com. El mapa colorea las 63 parroquias segun su nivel de riesgo, con hover que muestra nombre, canton y provincia, y popup con las probabilidades estimadas. Tambien incluye un formulario de prediccion personalizada donde el usuario puede seleccionar una parroquia para usar sus datos censales reales o ingresar valores manualmente.</a:t>
            </a:r>
          </a:p>
          <a:p/>
          <a:p>
            <a:r>
              <a:t>Como conclusiones principales: demostramos que es posible construir un sistema de clasificacion de riesgo de inundacion usando solo datos abiertos y oficiales del Ecuador. Los arboles de decision ofrecen el mejor equilibrio entre precision e interpretabilidad para este problema. Y la inclusion de datos sociodemograficos del INEC, aunque con menor peso, demuestra que la vulnerabilidad social es un factor relevante.</a:t>
            </a:r>
          </a:p>
          <a:p/>
          <a:p>
            <a:r>
              <a:t>Las principales limitaciones son el tamano muestral reducido de solo 63 parroquias en una provincia, el desbalanceo de la clase Alto con solo 18% de los registros, y la ausencia de variables temporales como estacionalidad o cambio climatico. A futuro se podria ampliar el estudio a otras provincias del Ecuador, incorporar datos satelitales en tiempo real, y usar tecnicas de balanceo como SMOTE para mejorar la deteccion de la clase minoritaria.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Estamos listos para responder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256032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1097280"/>
          </a:xfrm>
          <a:prstGeom prst="rect">
            <a:avLst/>
          </a:prstGeom>
          <a:noFill/>
        </p:spPr>
        <p:txBody>
          <a:bodyPr wrap="square">
            <a:spAutoFit/>
          </a:bodyPr>
          <a:lstStyle/>
          <a:p>
            <a:pPr algn="ctr">
              <a:defRPr sz="3600" b="1">
                <a:solidFill>
                  <a:srgbClr val="FFFFFF"/>
                </a:solidFill>
                <a:latin typeface="Calibri"/>
              </a:defRPr>
            </a:pPr>
            <a:r>
              <a:t>Clasificacion del Riesgo de Inundacion</a:t>
            </a:r>
          </a:p>
        </p:txBody>
      </p:sp>
      <p:sp>
        <p:nvSpPr>
          <p:cNvPr id="4" name="TextBox 3"/>
          <p:cNvSpPr txBox="1"/>
          <p:nvPr/>
        </p:nvSpPr>
        <p:spPr>
          <a:xfrm>
            <a:off x="914400" y="2011680"/>
            <a:ext cx="10058400" cy="731520"/>
          </a:xfrm>
          <a:prstGeom prst="rect">
            <a:avLst/>
          </a:prstGeom>
          <a:noFill/>
        </p:spPr>
        <p:txBody>
          <a:bodyPr wrap="square">
            <a:spAutoFit/>
          </a:bodyPr>
          <a:lstStyle/>
          <a:p>
            <a:pPr algn="ctr">
              <a:defRPr sz="2000" b="0">
                <a:solidFill>
                  <a:srgbClr val="B4C8E6"/>
                </a:solidFill>
                <a:latin typeface="Calibri"/>
              </a:defRPr>
            </a:pPr>
            <a:r>
              <a:t>por Parroquia en la Provincia de Esmeraldas, Ecuador</a:t>
            </a:r>
          </a:p>
        </p:txBody>
      </p:sp>
      <p:sp>
        <p:nvSpPr>
          <p:cNvPr id="5" name="TextBox 4"/>
          <p:cNvSpPr txBox="1"/>
          <p:nvPr/>
        </p:nvSpPr>
        <p:spPr>
          <a:xfrm>
            <a:off x="914400" y="3200400"/>
            <a:ext cx="10058400" cy="548640"/>
          </a:xfrm>
          <a:prstGeom prst="rect">
            <a:avLst/>
          </a:prstGeom>
          <a:noFill/>
        </p:spPr>
        <p:txBody>
          <a:bodyPr wrap="square">
            <a:spAutoFit/>
          </a:bodyPr>
          <a:lstStyle/>
          <a:p>
            <a:pPr algn="ctr">
              <a:defRPr sz="1600" b="0">
                <a:solidFill>
                  <a:srgbClr val="C8D7F0"/>
                </a:solidFill>
                <a:latin typeface="Calibri"/>
              </a:defRPr>
            </a:pPr>
            <a:r>
              <a:t>Proyecto del Segundo Parcial - Aprendizaje Automatico</a:t>
            </a:r>
          </a:p>
        </p:txBody>
      </p:sp>
      <p:sp>
        <p:nvSpPr>
          <p:cNvPr id="6" name="TextBox 5"/>
          <p:cNvSpPr txBox="1"/>
          <p:nvPr/>
        </p:nvSpPr>
        <p:spPr>
          <a:xfrm>
            <a:off x="914400" y="3931920"/>
            <a:ext cx="10058400" cy="548640"/>
          </a:xfrm>
          <a:prstGeom prst="rect">
            <a:avLst/>
          </a:prstGeom>
          <a:noFill/>
        </p:spPr>
        <p:txBody>
          <a:bodyPr wrap="square">
            <a:spAutoFit/>
          </a:bodyPr>
          <a:lstStyle/>
          <a:p>
            <a:pPr algn="ctr">
              <a:defRPr sz="1400" b="0">
                <a:solidFill>
                  <a:srgbClr val="B4C8E6"/>
                </a:solidFill>
                <a:latin typeface="Calibri"/>
              </a:defRPr>
            </a:pPr>
            <a:r>
              <a:t>Grupo B - Universidad de Guayaquil - Facultad de Ciencias Matematicas y Fisicas</a:t>
            </a:r>
          </a:p>
        </p:txBody>
      </p:sp>
      <p:sp>
        <p:nvSpPr>
          <p:cNvPr id="7" name="TextBox 6"/>
          <p:cNvSpPr txBox="1"/>
          <p:nvPr/>
        </p:nvSpPr>
        <p:spPr>
          <a:xfrm>
            <a:off x="914400" y="5029200"/>
            <a:ext cx="10058400" cy="548640"/>
          </a:xfrm>
          <a:prstGeom prst="rect">
            <a:avLst/>
          </a:prstGeom>
          <a:noFill/>
        </p:spPr>
        <p:txBody>
          <a:bodyPr wrap="square">
            <a:spAutoFit/>
          </a:bodyPr>
          <a:lstStyle/>
          <a:p>
            <a:pPr algn="ctr">
              <a:defRPr sz="1400" b="0">
                <a:solidFill>
                  <a:srgbClr val="96AFD2"/>
                </a:solidFill>
                <a:latin typeface="Calibri"/>
              </a:defRPr>
            </a:pPr>
            <a:r>
              <a:t>Julio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Calibri"/>
              </a:defRPr>
            </a:pPr>
            <a:r>
              <a:t>Contexto del Problema</a:t>
            </a:r>
          </a:p>
        </p:txBody>
      </p:sp>
      <p:sp>
        <p:nvSpPr>
          <p:cNvPr id="4" name="Rectangle 3"/>
          <p:cNvSpPr/>
          <p:nvPr/>
        </p:nvSpPr>
        <p:spPr>
          <a:xfrm>
            <a:off x="0" y="100584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1247120" cy="5029200"/>
          </a:xfrm>
          <a:prstGeom prst="rect">
            <a:avLst/>
          </a:prstGeom>
          <a:noFill/>
        </p:spPr>
        <p:txBody>
          <a:bodyPr wrap="square">
            <a:spAutoFit/>
          </a:bodyPr>
          <a:lstStyle/>
          <a:p>
            <a:pPr>
              <a:spcAft>
                <a:spcPts val="400"/>
              </a:spcAft>
              <a:defRPr sz="1300">
                <a:solidFill>
                  <a:srgbClr val="1E293B"/>
                </a:solidFill>
                <a:latin typeface="Calibri"/>
              </a:defRPr>
            </a:pPr>
            <a:r>
              <a:t>Ecuador es uno de los paises mas vulnerables a inundaciones en America Latina</a:t>
            </a:r>
          </a:p>
          <a:p>
            <a:pPr lvl="1">
              <a:spcAft>
                <a:spcPts val="400"/>
              </a:spcAft>
              <a:defRPr sz="1300">
                <a:solidFill>
                  <a:srgbClr val="1E293B"/>
                </a:solidFill>
                <a:latin typeface="Calibri"/>
              </a:defRPr>
            </a:pPr>
            <a:r>
              <a:t>  Ubicacion tropical + Cordillera de los Andes + corriente de El Nino</a:t>
            </a:r>
          </a:p>
          <a:p>
            <a:pPr lvl="1">
              <a:spcAft>
                <a:spcPts val="400"/>
              </a:spcAft>
              <a:defRPr sz="1300">
                <a:solidFill>
                  <a:srgbClr val="1E293B"/>
                </a:solidFill>
                <a:latin typeface="Calibri"/>
              </a:defRPr>
            </a:pPr>
            <a:r>
              <a:t>  Provincias mas afectadas: Costa (Esmeraldas, Manabi, Guayas) y Amazonia</a:t>
            </a:r>
          </a:p>
          <a:p>
            <a:pPr>
              <a:spcAft>
                <a:spcPts val="400"/>
              </a:spcAft>
              <a:defRPr sz="1300">
                <a:solidFill>
                  <a:srgbClr val="1E293B"/>
                </a:solidFill>
                <a:latin typeface="Calibri"/>
              </a:defRPr>
            </a:pPr>
          </a:p>
          <a:p>
            <a:pPr>
              <a:spcAft>
                <a:spcPts val="400"/>
              </a:spcAft>
              <a:defRPr sz="1300">
                <a:solidFill>
                  <a:srgbClr val="1E293B"/>
                </a:solidFill>
                <a:latin typeface="Calibri"/>
              </a:defRPr>
            </a:pPr>
            <a:r>
              <a:t>Provincia de Esmeraldas: zona de estudio</a:t>
            </a:r>
          </a:p>
          <a:p>
            <a:pPr lvl="1">
              <a:spcAft>
                <a:spcPts val="400"/>
              </a:spcAft>
              <a:defRPr sz="1300">
                <a:solidFill>
                  <a:srgbClr val="1E293B"/>
                </a:solidFill>
                <a:latin typeface="Calibri"/>
              </a:defRPr>
            </a:pPr>
            <a:r>
              <a:t>  Precipitacion anual &gt; 2,000 mm en la mayoria de sus parroquias</a:t>
            </a:r>
          </a:p>
          <a:p>
            <a:pPr lvl="1">
              <a:spcAft>
                <a:spcPts val="400"/>
              </a:spcAft>
              <a:defRPr sz="1300">
                <a:solidFill>
                  <a:srgbClr val="1E293B"/>
                </a:solidFill>
                <a:latin typeface="Calibri"/>
              </a:defRPr>
            </a:pPr>
            <a:r>
              <a:t>  Altitud media de solo 17 metros sobre el nivel del mar</a:t>
            </a:r>
          </a:p>
          <a:p>
            <a:pPr lvl="1">
              <a:spcAft>
                <a:spcPts val="400"/>
              </a:spcAft>
              <a:defRPr sz="1300">
                <a:solidFill>
                  <a:srgbClr val="1E293B"/>
                </a:solidFill>
                <a:latin typeface="Calibri"/>
              </a:defRPr>
            </a:pPr>
            <a:r>
              <a:t>  Red hidrografica densa: rios Esmeraldas, Cayapas, Santiago y varios esteros</a:t>
            </a:r>
          </a:p>
          <a:p>
            <a:pPr>
              <a:spcAft>
                <a:spcPts val="400"/>
              </a:spcAft>
              <a:defRPr sz="1300">
                <a:solidFill>
                  <a:srgbClr val="1E293B"/>
                </a:solidFill>
                <a:latin typeface="Calibri"/>
              </a:defRPr>
            </a:pPr>
          </a:p>
          <a:p>
            <a:pPr>
              <a:spcAft>
                <a:spcPts val="400"/>
              </a:spcAft>
              <a:defRPr sz="1300">
                <a:solidFill>
                  <a:srgbClr val="1E293B"/>
                </a:solidFill>
                <a:latin typeface="Calibri"/>
              </a:defRPr>
            </a:pPr>
            <a:r>
              <a:t>Datos SNGRE: mas de 30 eventos de inundacion registrados en la ultima decada</a:t>
            </a:r>
          </a:p>
          <a:p>
            <a:pPr lvl="1">
              <a:spcAft>
                <a:spcPts val="400"/>
              </a:spcAft>
              <a:defRPr sz="1300">
                <a:solidFill>
                  <a:srgbClr val="1E293B"/>
                </a:solidFill>
                <a:latin typeface="Calibri"/>
              </a:defRPr>
            </a:pPr>
            <a:r>
              <a:t>  Afectaciones: miles de familias damnificadas, cultivos perdidos, vias colapsadas</a:t>
            </a:r>
          </a:p>
          <a:p>
            <a:pPr lvl="1">
              <a:spcAft>
                <a:spcPts val="400"/>
              </a:spcAft>
              <a:defRPr sz="1300">
                <a:solidFill>
                  <a:srgbClr val="1E293B"/>
                </a:solidFill>
                <a:latin typeface="Calibri"/>
              </a:defRPr>
            </a:pPr>
            <a:r>
              <a:t>  Perdidas economicas significativas en sectores agricola, vial y residencial</a:t>
            </a:r>
          </a:p>
          <a:p>
            <a:pPr>
              <a:spcAft>
                <a:spcPts val="400"/>
              </a:spcAft>
              <a:defRPr sz="1300">
                <a:solidFill>
                  <a:srgbClr val="1E293B"/>
                </a:solidFill>
                <a:latin typeface="Calibri"/>
              </a:defRPr>
            </a:pPr>
          </a:p>
          <a:p>
            <a:pPr>
              <a:spcAft>
                <a:spcPts val="400"/>
              </a:spcAft>
              <a:defRPr sz="1300">
                <a:solidFill>
                  <a:srgbClr val="1E293B"/>
                </a:solidFill>
                <a:latin typeface="Calibri"/>
              </a:defRPr>
            </a:pPr>
            <a:r>
              <a:t>Problema: la mayoria de estudios de riesgo usan solo variables climaticas</a:t>
            </a:r>
          </a:p>
          <a:p>
            <a:pPr lvl="1">
              <a:spcAft>
                <a:spcPts val="400"/>
              </a:spcAft>
              <a:defRPr sz="1300">
                <a:solidFill>
                  <a:srgbClr val="1E293B"/>
                </a:solidFill>
                <a:latin typeface="Calibri"/>
              </a:defRPr>
            </a:pPr>
            <a:r>
              <a:t>  Ignoran factores socioterritoriales: calidad de vivienda, acceso a servicios, hacinamiento</a:t>
            </a:r>
          </a:p>
          <a:p>
            <a:pPr lvl="1">
              <a:spcAft>
                <a:spcPts val="400"/>
              </a:spcAft>
              <a:defRPr sz="1300">
                <a:solidFill>
                  <a:srgbClr val="1E293B"/>
                </a:solidFill>
                <a:latin typeface="Calibri"/>
              </a:defRPr>
            </a:pPr>
            <a:r>
              <a:t>  La vulnerabilidad social es clave para determinar el impacto real de un desastre</a:t>
            </a:r>
          </a:p>
          <a:p>
            <a:pPr>
              <a:spcAft>
                <a:spcPts val="400"/>
              </a:spcAft>
              <a:defRPr sz="1300">
                <a:solidFill>
                  <a:srgbClr val="1E293B"/>
                </a:solidFill>
                <a:latin typeface="Calibri"/>
              </a:defRPr>
            </a:pPr>
          </a:p>
          <a:p>
            <a:pPr>
              <a:spcAft>
                <a:spcPts val="400"/>
              </a:spcAft>
              <a:defRPr sz="1300">
                <a:solidFill>
                  <a:srgbClr val="1E293B"/>
                </a:solidFill>
                <a:latin typeface="Calibri"/>
              </a:defRPr>
            </a:pPr>
            <a:r>
              <a:t>Objetivo del proyecto:</a:t>
            </a:r>
          </a:p>
          <a:p>
            <a:pPr lvl="1">
              <a:spcAft>
                <a:spcPts val="400"/>
              </a:spcAft>
              <a:defRPr sz="1300">
                <a:solidFill>
                  <a:srgbClr val="1E293B"/>
                </a:solidFill>
                <a:latin typeface="Calibri"/>
              </a:defRPr>
            </a:pPr>
            <a:r>
              <a:t>  Construir un modelo de clasificacion supervisada que integre dimension fisica y social</a:t>
            </a:r>
          </a:p>
          <a:p>
            <a:pPr lvl="1">
              <a:spcAft>
                <a:spcPts val="400"/>
              </a:spcAft>
              <a:defRPr sz="1300">
                <a:solidFill>
                  <a:srgbClr val="1E293B"/>
                </a:solidFill>
                <a:latin typeface="Calibri"/>
              </a:defRPr>
            </a:pPr>
            <a:r>
              <a:t>  Asignar a cada parroquia un nivel de riesgo: Bajo, Medio o Alto</a:t>
            </a:r>
          </a:p>
          <a:p>
            <a:pPr lvl="1">
              <a:spcAft>
                <a:spcPts val="400"/>
              </a:spcAft>
              <a:defRPr sz="1300">
                <a:solidFill>
                  <a:srgbClr val="1E293B"/>
                </a:solidFill>
                <a:latin typeface="Calibri"/>
              </a:defRPr>
            </a:pPr>
            <a:r>
              <a:t>  Usar solo datos abiertos y oficiales del Ecuador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Calibri"/>
              </a:defRPr>
            </a:pPr>
            <a:r>
              <a:t>Datos y Fuentes</a:t>
            </a:r>
          </a:p>
        </p:txBody>
      </p:sp>
      <p:sp>
        <p:nvSpPr>
          <p:cNvPr id="4" name="Rectangle 3"/>
          <p:cNvSpPr/>
          <p:nvPr/>
        </p:nvSpPr>
        <p:spPr>
          <a:xfrm>
            <a:off x="0" y="100584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1247120" cy="5029200"/>
          </a:xfrm>
          <a:prstGeom prst="rect">
            <a:avLst/>
          </a:prstGeom>
          <a:noFill/>
        </p:spPr>
        <p:txBody>
          <a:bodyPr wrap="square">
            <a:spAutoFit/>
          </a:bodyPr>
          <a:lstStyle/>
          <a:p>
            <a:pPr>
              <a:spcAft>
                <a:spcPts val="400"/>
              </a:spcAft>
              <a:defRPr sz="1300">
                <a:solidFill>
                  <a:srgbClr val="1E293B"/>
                </a:solidFill>
                <a:latin typeface="Calibri"/>
              </a:defRPr>
            </a:pPr>
            <a:r>
              <a:t>19 variables predictoras de 4 fuentes oficiales:</a:t>
            </a:r>
          </a:p>
          <a:p>
            <a:pPr>
              <a:spcAft>
                <a:spcPts val="400"/>
              </a:spcAft>
              <a:defRPr sz="1300">
                <a:solidFill>
                  <a:srgbClr val="1E293B"/>
                </a:solidFill>
                <a:latin typeface="Calibri"/>
              </a:defRPr>
            </a:pPr>
          </a:p>
          <a:p>
            <a:pPr>
              <a:spcAft>
                <a:spcPts val="400"/>
              </a:spcAft>
              <a:defRPr sz="1300">
                <a:solidFill>
                  <a:srgbClr val="1E293B"/>
                </a:solidFill>
                <a:latin typeface="Calibri"/>
              </a:defRPr>
            </a:pPr>
            <a:r>
              <a:t>INAMHI + OpenStreetMap (6 variables climaticas/geograficas):</a:t>
            </a:r>
          </a:p>
          <a:p>
            <a:pPr lvl="1">
              <a:spcAft>
                <a:spcPts val="400"/>
              </a:spcAft>
              <a:defRPr sz="1300">
                <a:solidFill>
                  <a:srgbClr val="1E293B"/>
                </a:solidFill>
                <a:latin typeface="Calibri"/>
              </a:defRPr>
            </a:pPr>
            <a:r>
              <a:t>  Precipitacion anual (mm), Altitud media (m), Pendiente del terreno (%)</a:t>
            </a:r>
          </a:p>
          <a:p>
            <a:pPr lvl="1">
              <a:spcAft>
                <a:spcPts val="400"/>
              </a:spcAft>
              <a:defRPr sz="1300">
                <a:solidFill>
                  <a:srgbClr val="1E293B"/>
                </a:solidFill>
                <a:latin typeface="Calibri"/>
              </a:defRPr>
            </a:pPr>
            <a:r>
              <a:t>  Distancia a cuerpos de agua (km), Densidad poblacional (hab/km2), Area urbanizada (%)</a:t>
            </a:r>
          </a:p>
          <a:p>
            <a:pPr>
              <a:spcAft>
                <a:spcPts val="400"/>
              </a:spcAft>
              <a:defRPr sz="1300">
                <a:solidFill>
                  <a:srgbClr val="1E293B"/>
                </a:solidFill>
                <a:latin typeface="Calibri"/>
              </a:defRPr>
            </a:pPr>
          </a:p>
          <a:p>
            <a:pPr>
              <a:spcAft>
                <a:spcPts val="400"/>
              </a:spcAft>
              <a:defRPr sz="1300">
                <a:solidFill>
                  <a:srgbClr val="1E293B"/>
                </a:solidFill>
                <a:latin typeface="Calibri"/>
              </a:defRPr>
            </a:pPr>
            <a:r>
              <a:t>INEC Censo 2022 (13 variables sociodemograficas):</a:t>
            </a:r>
          </a:p>
          <a:p>
            <a:pPr lvl="1">
              <a:spcAft>
                <a:spcPts val="400"/>
              </a:spcAft>
              <a:defRPr sz="1300">
                <a:solidFill>
                  <a:srgbClr val="1E293B"/>
                </a:solidFill>
                <a:latin typeface="Calibri"/>
              </a:defRPr>
            </a:pPr>
            <a:r>
              <a:t>  Poblacion: edad media, % menores 15, % mayores 65, % hombres</a:t>
            </a:r>
          </a:p>
          <a:p>
            <a:pPr lvl="1">
              <a:spcAft>
                <a:spcPts val="400"/>
              </a:spcAft>
              <a:defRPr sz="1300">
                <a:solidFill>
                  <a:srgbClr val="1E293B"/>
                </a:solidFill>
                <a:latin typeface="Calibri"/>
              </a:defRPr>
            </a:pPr>
            <a:r>
              <a:t>  Hogar: % agua publica, % alcantarillado, % electricidad, hacinamiento</a:t>
            </a:r>
          </a:p>
          <a:p>
            <a:pPr lvl="1">
              <a:spcAft>
                <a:spcPts val="400"/>
              </a:spcAft>
              <a:defRPr sz="1300">
                <a:solidFill>
                  <a:srgbClr val="1E293B"/>
                </a:solidFill>
                <a:latin typeface="Calibri"/>
              </a:defRPr>
            </a:pPr>
            <a:r>
              <a:t>  Vivienda: % pared buena, % techo bueno, % piso bueno, personas por dormitorio</a:t>
            </a:r>
          </a:p>
          <a:p>
            <a:pPr lvl="1">
              <a:spcAft>
                <a:spcPts val="400"/>
              </a:spcAft>
              <a:defRPr sz="1300">
                <a:solidFill>
                  <a:srgbClr val="1E293B"/>
                </a:solidFill>
                <a:latin typeface="Calibri"/>
              </a:defRPr>
            </a:pPr>
            <a:r>
              <a:t>  Emigrantes: total emigrantes por parroquia</a:t>
            </a:r>
          </a:p>
          <a:p>
            <a:pPr>
              <a:spcAft>
                <a:spcPts val="400"/>
              </a:spcAft>
              <a:defRPr sz="1300">
                <a:solidFill>
                  <a:srgbClr val="1E293B"/>
                </a:solidFill>
                <a:latin typeface="Calibri"/>
              </a:defRPr>
            </a:pPr>
          </a:p>
          <a:p>
            <a:pPr>
              <a:spcAft>
                <a:spcPts val="400"/>
              </a:spcAft>
              <a:defRPr sz="1300">
                <a:solidFill>
                  <a:srgbClr val="1E293B"/>
                </a:solidFill>
                <a:latin typeface="Calibri"/>
              </a:defRPr>
            </a:pPr>
            <a:r>
              <a:t>Variable derivada: VIV_PERS_POR_DORM (personas por dormitorio)</a:t>
            </a:r>
          </a:p>
          <a:p>
            <a:pPr lvl="1">
              <a:spcAft>
                <a:spcPts val="400"/>
              </a:spcAft>
              <a:defRPr sz="1300">
                <a:solidFill>
                  <a:srgbClr val="1E293B"/>
                </a:solidFill>
                <a:latin typeface="Calibri"/>
              </a:defRPr>
            </a:pPr>
            <a:r>
              <a:t>  Indicador de hacinamiento que cumple el requisito de variable derivada/transformada</a:t>
            </a:r>
          </a:p>
          <a:p>
            <a:pPr>
              <a:spcAft>
                <a:spcPts val="400"/>
              </a:spcAft>
              <a:defRPr sz="1300">
                <a:solidFill>
                  <a:srgbClr val="1E293B"/>
                </a:solidFill>
                <a:latin typeface="Calibri"/>
              </a:defRPr>
            </a:pPr>
          </a:p>
          <a:p>
            <a:pPr>
              <a:spcAft>
                <a:spcPts val="400"/>
              </a:spcAft>
              <a:defRPr sz="1300">
                <a:solidFill>
                  <a:srgbClr val="1E293B"/>
                </a:solidFill>
                <a:latin typeface="Calibri"/>
              </a:defRPr>
            </a:pPr>
            <a:r>
              <a:t>Variable objetivo (construida manualmente, NO predefinida):</a:t>
            </a:r>
          </a:p>
          <a:p>
            <a:pPr lvl="1">
              <a:spcAft>
                <a:spcPts val="400"/>
              </a:spcAft>
              <a:defRPr sz="1300">
                <a:solidFill>
                  <a:srgbClr val="1E293B"/>
                </a:solidFill>
                <a:latin typeface="Calibri"/>
              </a:defRPr>
            </a:pPr>
            <a:r>
              <a:t>  Fuente SNGRE: mapa de susceptibilidad + 30 eventos historicos COE2</a:t>
            </a:r>
          </a:p>
          <a:p>
            <a:pPr lvl="1">
              <a:spcAft>
                <a:spcPts val="400"/>
              </a:spcAft>
              <a:defRPr sz="1300">
                <a:solidFill>
                  <a:srgbClr val="1E293B"/>
                </a:solidFill>
                <a:latin typeface="Calibri"/>
              </a:defRPr>
            </a:pPr>
            <a:r>
              <a:t>  Criterio: Alta susceptibilidad Y eventos historicos = Alto riesgo</a:t>
            </a:r>
          </a:p>
          <a:p>
            <a:pPr lvl="1">
              <a:spcAft>
                <a:spcPts val="400"/>
              </a:spcAft>
              <a:defRPr sz="1300">
                <a:solidFill>
                  <a:srgbClr val="1E293B"/>
                </a:solidFill>
                <a:latin typeface="Calibri"/>
              </a:defRPr>
            </a:pPr>
            <a:r>
              <a:t>  Distribucion final: Bajo 45.6%, Medio 36.6%, Alto 17.8%</a:t>
            </a:r>
          </a:p>
          <a:p>
            <a:pPr>
              <a:spcAft>
                <a:spcPts val="400"/>
              </a:spcAft>
              <a:defRPr sz="1300">
                <a:solidFill>
                  <a:srgbClr val="1E293B"/>
                </a:solidFill>
                <a:latin typeface="Calibri"/>
              </a:defRPr>
            </a:pPr>
          </a:p>
          <a:p>
            <a:pPr>
              <a:spcAft>
                <a:spcPts val="400"/>
              </a:spcAft>
              <a:defRPr sz="1300">
                <a:solidFill>
                  <a:srgbClr val="1E293B"/>
                </a:solidFill>
                <a:latin typeface="Calibri"/>
              </a:defRPr>
            </a:pPr>
            <a:r>
              <a:t>Dataset: 320 registros, 63 parroquias, 7 cantones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Calibri"/>
              </a:defRPr>
            </a:pPr>
            <a:r>
              <a:t>Analisis Exploratorio de Datos</a:t>
            </a:r>
          </a:p>
        </p:txBody>
      </p:sp>
      <p:sp>
        <p:nvSpPr>
          <p:cNvPr id="4" name="Rectangle 3"/>
          <p:cNvSpPr/>
          <p:nvPr/>
        </p:nvSpPr>
        <p:spPr>
          <a:xfrm>
            <a:off x="0" y="100584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5669280" cy="5029200"/>
          </a:xfrm>
          <a:prstGeom prst="rect">
            <a:avLst/>
          </a:prstGeom>
          <a:noFill/>
        </p:spPr>
        <p:txBody>
          <a:bodyPr wrap="square">
            <a:spAutoFit/>
          </a:bodyPr>
          <a:lstStyle/>
          <a:p>
            <a:pPr>
              <a:spcAft>
                <a:spcPts val="400"/>
              </a:spcAft>
              <a:defRPr sz="1250">
                <a:solidFill>
                  <a:srgbClr val="1E293B"/>
                </a:solidFill>
                <a:latin typeface="Calibri"/>
              </a:defRPr>
            </a:pPr>
            <a:r>
              <a:t>Patrones claros segun nivel de riesgo:</a:t>
            </a:r>
          </a:p>
          <a:p>
            <a:pPr lvl="1">
              <a:spcAft>
                <a:spcPts val="400"/>
              </a:spcAft>
              <a:defRPr sz="1250">
                <a:solidFill>
                  <a:srgbClr val="1E293B"/>
                </a:solidFill>
                <a:latin typeface="Calibri"/>
              </a:defRPr>
            </a:pPr>
            <a:r>
              <a:t>  Riesgo Alto: menor distancia al agua, menor pendiente, mayor precipitacion</a:t>
            </a:r>
          </a:p>
          <a:p>
            <a:pPr lvl="1">
              <a:spcAft>
                <a:spcPts val="400"/>
              </a:spcAft>
              <a:defRPr sz="1250">
                <a:solidFill>
                  <a:srgbClr val="1E293B"/>
                </a:solidFill>
                <a:latin typeface="Calibri"/>
              </a:defRPr>
            </a:pPr>
            <a:r>
              <a:t>  Riesgo Bajo: mayor altitud, mayor distancia a rios, menor precipitacion</a:t>
            </a:r>
          </a:p>
          <a:p>
            <a:pPr>
              <a:spcAft>
                <a:spcPts val="400"/>
              </a:spcAft>
              <a:defRPr sz="1250">
                <a:solidFill>
                  <a:srgbClr val="1E293B"/>
                </a:solidFill>
                <a:latin typeface="Calibri"/>
              </a:defRPr>
            </a:pPr>
          </a:p>
          <a:p>
            <a:pPr>
              <a:spcAft>
                <a:spcPts val="400"/>
              </a:spcAft>
              <a:defRPr sz="1250">
                <a:solidFill>
                  <a:srgbClr val="1E293B"/>
                </a:solidFill>
                <a:latin typeface="Calibri"/>
              </a:defRPr>
            </a:pPr>
            <a:r>
              <a:t>Matriz de correlacion: top 3 variables mas correlacionadas con el riesgo</a:t>
            </a:r>
          </a:p>
          <a:p>
            <a:pPr lvl="1">
              <a:spcAft>
                <a:spcPts val="400"/>
              </a:spcAft>
              <a:defRPr sz="1250">
                <a:solidFill>
                  <a:srgbClr val="1E293B"/>
                </a:solidFill>
                <a:latin typeface="Calibri"/>
              </a:defRPr>
            </a:pPr>
            <a:r>
              <a:t>  1. Distancia al agua: correlacion de -0.48 (a menor distancia, mayor riesgo)</a:t>
            </a:r>
          </a:p>
          <a:p>
            <a:pPr lvl="1">
              <a:spcAft>
                <a:spcPts val="400"/>
              </a:spcAft>
              <a:defRPr sz="1250">
                <a:solidFill>
                  <a:srgbClr val="1E293B"/>
                </a:solidFill>
                <a:latin typeface="Calibri"/>
              </a:defRPr>
            </a:pPr>
            <a:r>
              <a:t>  2. Pendiente del terreno: correlacion de -0.31 (terrenos planos acumulan agua)</a:t>
            </a:r>
          </a:p>
          <a:p>
            <a:pPr lvl="1">
              <a:spcAft>
                <a:spcPts val="400"/>
              </a:spcAft>
              <a:defRPr sz="1250">
                <a:solidFill>
                  <a:srgbClr val="1E293B"/>
                </a:solidFill>
                <a:latin typeface="Calibri"/>
              </a:defRPr>
            </a:pPr>
            <a:r>
              <a:t>  3. Precipitacion anual: correlacion de +0.28 (mas lluvia, mas riesgo)</a:t>
            </a:r>
          </a:p>
          <a:p>
            <a:pPr>
              <a:spcAft>
                <a:spcPts val="400"/>
              </a:spcAft>
              <a:defRPr sz="1250">
                <a:solidFill>
                  <a:srgbClr val="1E293B"/>
                </a:solidFill>
                <a:latin typeface="Calibri"/>
              </a:defRPr>
            </a:pPr>
          </a:p>
          <a:p>
            <a:pPr>
              <a:spcAft>
                <a:spcPts val="400"/>
              </a:spcAft>
              <a:defRPr sz="1250">
                <a:solidFill>
                  <a:srgbClr val="1E293B"/>
                </a:solidFill>
                <a:latin typeface="Calibri"/>
              </a:defRPr>
            </a:pPr>
            <a:r>
              <a:t>Coherencia fisica: parroquia cerca de rio + terreno plano + mucha lluvia = alto riesgo</a:t>
            </a:r>
          </a:p>
          <a:p>
            <a:pPr>
              <a:spcAft>
                <a:spcPts val="400"/>
              </a:spcAft>
              <a:defRPr sz="1250">
                <a:solidFill>
                  <a:srgbClr val="1E293B"/>
                </a:solidFill>
                <a:latin typeface="Calibri"/>
              </a:defRPr>
            </a:pPr>
          </a:p>
          <a:p>
            <a:pPr>
              <a:spcAft>
                <a:spcPts val="400"/>
              </a:spcAft>
              <a:defRPr sz="1250">
                <a:solidFill>
                  <a:srgbClr val="1E293B"/>
                </a:solidFill>
                <a:latin typeface="Calibri"/>
              </a:defRPr>
            </a:pPr>
            <a:r>
              <a:t>Variables INEC: correlaciones bajas pero informacion complementaria relevante</a:t>
            </a:r>
          </a:p>
          <a:p>
            <a:pPr lvl="1">
              <a:spcAft>
                <a:spcPts val="400"/>
              </a:spcAft>
              <a:defRPr sz="1250">
                <a:solidFill>
                  <a:srgbClr val="1E293B"/>
                </a:solidFill>
                <a:latin typeface="Calibri"/>
              </a:defRPr>
            </a:pPr>
            <a:r>
              <a:t>  Hacinamiento del hogar: correlacion positiva con riesgo</a:t>
            </a:r>
          </a:p>
          <a:p>
            <a:pPr lvl="1">
              <a:spcAft>
                <a:spcPts val="400"/>
              </a:spcAft>
              <a:defRPr sz="1250">
                <a:solidFill>
                  <a:srgbClr val="1E293B"/>
                </a:solidFill>
                <a:latin typeface="Calibri"/>
              </a:defRPr>
            </a:pPr>
            <a:r>
              <a:t>  Calidad de la vivienda: correlacion negativa (mejor vivienda, menor vulnerabilidad)</a:t>
            </a:r>
          </a:p>
          <a:p>
            <a:pPr lvl="1">
              <a:spcAft>
                <a:spcPts val="400"/>
              </a:spcAft>
              <a:defRPr sz="1250">
                <a:solidFill>
                  <a:srgbClr val="1E293B"/>
                </a:solidFill>
                <a:latin typeface="Calibri"/>
              </a:defRPr>
            </a:pPr>
            <a:r>
              <a:t>  Aportan dimension social que los modelos puramente fisicos ignoran</a:t>
            </a:r>
          </a:p>
          <a:p>
            <a:pPr>
              <a:spcAft>
                <a:spcPts val="400"/>
              </a:spcAft>
              <a:defRPr sz="1250">
                <a:solidFill>
                  <a:srgbClr val="1E293B"/>
                </a:solidFill>
                <a:latin typeface="Calibri"/>
              </a:defRPr>
            </a:pPr>
          </a:p>
          <a:p>
            <a:pPr>
              <a:spcAft>
                <a:spcPts val="400"/>
              </a:spcAft>
              <a:defRPr sz="1250">
                <a:solidFill>
                  <a:srgbClr val="1E293B"/>
                </a:solidFill>
                <a:latin typeface="Calibri"/>
              </a:defRPr>
            </a:pPr>
            <a:r>
              <a:t>No se encontraron valores faltantes en features climaticas/geograficas</a:t>
            </a:r>
          </a:p>
          <a:p>
            <a:pPr lvl="1">
              <a:spcAft>
                <a:spcPts val="400"/>
              </a:spcAft>
              <a:defRPr sz="1250">
                <a:solidFill>
                  <a:srgbClr val="1E293B"/>
                </a:solidFill>
                <a:latin typeface="Calibri"/>
              </a:defRPr>
            </a:pPr>
            <a:r>
              <a:t>  Valores nulos en INEC imputados con 0 (ausencia del servicio en parroquias dispersas)</a:t>
            </a:r>
          </a:p>
          <a:p>
            <a:pPr lvl="1">
              <a:spcAft>
                <a:spcPts val="400"/>
              </a:spcAft>
              <a:defRPr sz="1250">
                <a:solidFill>
                  <a:srgbClr val="1E293B"/>
                </a:solidFill>
                <a:latin typeface="Calibri"/>
              </a:defRPr>
            </a:pPr>
            <a:r>
              <a:t>  Sin parroquias duplicadas</a:t>
            </a:r>
          </a:p>
        </p:txBody>
      </p:sp>
      <p:pic>
        <p:nvPicPr>
          <p:cNvPr id="6" name="Picture 5" descr="eda_distribuciones.png"/>
          <p:cNvPicPr>
            <a:picLocks noChangeAspect="1"/>
          </p:cNvPicPr>
          <p:nvPr/>
        </p:nvPicPr>
        <p:blipFill>
          <a:blip r:embed="rId2"/>
          <a:stretch>
            <a:fillRect/>
          </a:stretch>
        </p:blipFill>
        <p:spPr>
          <a:xfrm>
            <a:off x="6309360" y="1280160"/>
            <a:ext cx="5486400" cy="2468880"/>
          </a:xfrm>
          <a:prstGeom prst="rect">
            <a:avLst/>
          </a:prstGeom>
        </p:spPr>
      </p:pic>
      <p:pic>
        <p:nvPicPr>
          <p:cNvPr id="7" name="Picture 6" descr="eda_correlacion.png"/>
          <p:cNvPicPr>
            <a:picLocks noChangeAspect="1"/>
          </p:cNvPicPr>
          <p:nvPr/>
        </p:nvPicPr>
        <p:blipFill>
          <a:blip r:embed="rId3"/>
          <a:stretch>
            <a:fillRect/>
          </a:stretch>
        </p:blipFill>
        <p:spPr>
          <a:xfrm>
            <a:off x="6309360" y="3886200"/>
            <a:ext cx="5486400" cy="2468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Calibri"/>
              </a:defRPr>
            </a:pPr>
            <a:r>
              <a:t>Modelos y Resultados</a:t>
            </a:r>
          </a:p>
        </p:txBody>
      </p:sp>
      <p:sp>
        <p:nvSpPr>
          <p:cNvPr id="4" name="Rectangle 3"/>
          <p:cNvSpPr/>
          <p:nvPr/>
        </p:nvSpPr>
        <p:spPr>
          <a:xfrm>
            <a:off x="0" y="100584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5669280" cy="5029200"/>
          </a:xfrm>
          <a:prstGeom prst="rect">
            <a:avLst/>
          </a:prstGeom>
          <a:noFill/>
        </p:spPr>
        <p:txBody>
          <a:bodyPr wrap="square">
            <a:spAutoFit/>
          </a:bodyPr>
          <a:lstStyle/>
          <a:p>
            <a:pPr>
              <a:spcAft>
                <a:spcPts val="400"/>
              </a:spcAft>
              <a:defRPr sz="1250">
                <a:solidFill>
                  <a:srgbClr val="1E293B"/>
                </a:solidFill>
                <a:latin typeface="Calibri"/>
              </a:defRPr>
            </a:pPr>
            <a:r>
              <a:t>5 modelos entrenados con RobustScaler y validacion 70/30 estratificada</a:t>
            </a:r>
          </a:p>
          <a:p>
            <a:pPr>
              <a:spcAft>
                <a:spcPts val="400"/>
              </a:spcAft>
              <a:defRPr sz="1250">
                <a:solidFill>
                  <a:srgbClr val="1E293B"/>
                </a:solidFill>
                <a:latin typeface="Calibri"/>
              </a:defRPr>
            </a:pPr>
          </a:p>
          <a:p>
            <a:pPr>
              <a:spcAft>
                <a:spcPts val="400"/>
              </a:spcAft>
              <a:defRPr sz="1250">
                <a:solidFill>
                  <a:srgbClr val="1E293B"/>
                </a:solidFill>
                <a:latin typeface="Calibri"/>
              </a:defRPr>
            </a:pPr>
            <a:r>
              <a:t>GridSearchCV sobre Random Forest (5 pliegues):</a:t>
            </a:r>
          </a:p>
          <a:p>
            <a:pPr lvl="1">
              <a:spcAft>
                <a:spcPts val="400"/>
              </a:spcAft>
              <a:defRPr sz="1250">
                <a:solidFill>
                  <a:srgbClr val="1E293B"/>
                </a:solidFill>
                <a:latin typeface="Calibri"/>
              </a:defRPr>
            </a:pPr>
            <a:r>
              <a:t>  Mejores hiperparametros: max_depth=5, n_estimators=200</a:t>
            </a:r>
          </a:p>
          <a:p>
            <a:pPr lvl="1">
              <a:spcAft>
                <a:spcPts val="400"/>
              </a:spcAft>
              <a:defRPr sz="1250">
                <a:solidFill>
                  <a:srgbClr val="1E293B"/>
                </a:solidFill>
                <a:latin typeface="Calibri"/>
              </a:defRPr>
            </a:pPr>
            <a:r>
              <a:t>  min_samples_split=2, min_samples_leaf=2</a:t>
            </a:r>
          </a:p>
          <a:p>
            <a:pPr lvl="1">
              <a:spcAft>
                <a:spcPts val="400"/>
              </a:spcAft>
              <a:defRPr sz="1250">
                <a:solidFill>
                  <a:srgbClr val="1E293B"/>
                </a:solidFill>
                <a:latin typeface="Calibri"/>
              </a:defRPr>
            </a:pPr>
            <a:r>
              <a:t>  CV F1-Score: 0.7826</a:t>
            </a:r>
          </a:p>
          <a:p>
            <a:pPr>
              <a:spcAft>
                <a:spcPts val="400"/>
              </a:spcAft>
              <a:defRPr sz="1250">
                <a:solidFill>
                  <a:srgbClr val="1E293B"/>
                </a:solidFill>
                <a:latin typeface="Calibri"/>
              </a:defRPr>
            </a:pPr>
          </a:p>
          <a:p>
            <a:pPr>
              <a:spcAft>
                <a:spcPts val="400"/>
              </a:spcAft>
              <a:defRPr sz="1250">
                <a:solidFill>
                  <a:srgbClr val="1E293B"/>
                </a:solidFill>
                <a:latin typeface="Calibri"/>
              </a:defRPr>
            </a:pPr>
            <a:r>
              <a:t>Resultados en conjunto de prueba:</a:t>
            </a:r>
          </a:p>
          <a:p>
            <a:pPr lvl="1">
              <a:spcAft>
                <a:spcPts val="400"/>
              </a:spcAft>
              <a:defRPr sz="1250">
                <a:solidFill>
                  <a:srgbClr val="1E293B"/>
                </a:solidFill>
                <a:latin typeface="Calibri"/>
              </a:defRPr>
            </a:pPr>
            <a:r>
              <a:t>  Arbol de Decision:    85.00% accuracy   84.63% F1-Score</a:t>
            </a:r>
          </a:p>
          <a:p>
            <a:pPr lvl="1">
              <a:spcAft>
                <a:spcPts val="400"/>
              </a:spcAft>
              <a:defRPr sz="1250">
                <a:solidFill>
                  <a:srgbClr val="1E293B"/>
                </a:solidFill>
                <a:latin typeface="Calibri"/>
              </a:defRPr>
            </a:pPr>
            <a:r>
              <a:t>  Voting Classifier:    80.00%             80.00%</a:t>
            </a:r>
          </a:p>
          <a:p>
            <a:pPr lvl="1">
              <a:spcAft>
                <a:spcPts val="400"/>
              </a:spcAft>
              <a:defRPr sz="1250">
                <a:solidFill>
                  <a:srgbClr val="1E293B"/>
                </a:solidFill>
                <a:latin typeface="Calibri"/>
              </a:defRPr>
            </a:pPr>
            <a:r>
              <a:t>  Random Forest (opt):  80.00%             78.63%</a:t>
            </a:r>
          </a:p>
          <a:p>
            <a:pPr lvl="1">
              <a:spcAft>
                <a:spcPts val="400"/>
              </a:spcAft>
              <a:defRPr sz="1250">
                <a:solidFill>
                  <a:srgbClr val="1E293B"/>
                </a:solidFill>
                <a:latin typeface="Calibri"/>
              </a:defRPr>
            </a:pPr>
            <a:r>
              <a:t>  SVM (RBF):            70.00%             68.89%</a:t>
            </a:r>
          </a:p>
          <a:p>
            <a:pPr lvl="1">
              <a:spcAft>
                <a:spcPts val="400"/>
              </a:spcAft>
              <a:defRPr sz="1250">
                <a:solidFill>
                  <a:srgbClr val="1E293B"/>
                </a:solidFill>
                <a:latin typeface="Calibri"/>
              </a:defRPr>
            </a:pPr>
            <a:r>
              <a:t>  Regresion Logistica:  65.00%             65.89%</a:t>
            </a:r>
          </a:p>
          <a:p>
            <a:pPr>
              <a:spcAft>
                <a:spcPts val="400"/>
              </a:spcAft>
              <a:defRPr sz="1250">
                <a:solidFill>
                  <a:srgbClr val="1E293B"/>
                </a:solidFill>
                <a:latin typeface="Calibri"/>
              </a:defRPr>
            </a:pPr>
          </a:p>
          <a:p>
            <a:pPr>
              <a:spcAft>
                <a:spcPts val="400"/>
              </a:spcAft>
              <a:defRPr sz="1250">
                <a:solidFill>
                  <a:srgbClr val="1E293B"/>
                </a:solidFill>
                <a:latin typeface="Calibri"/>
              </a:defRPr>
            </a:pPr>
            <a:r>
              <a:t>Metrica prioritaria: RECALL (sensibilidad)</a:t>
            </a:r>
          </a:p>
          <a:p>
            <a:pPr lvl="1">
              <a:spcAft>
                <a:spcPts val="400"/>
              </a:spcAft>
              <a:defRPr sz="1250">
                <a:solidFill>
                  <a:srgbClr val="1E293B"/>
                </a:solidFill>
                <a:latin typeface="Calibri"/>
              </a:defRPr>
            </a:pPr>
            <a:r>
              <a:t>  En gestion de riesgo: mejor falso positivo que falso negativo</a:t>
            </a:r>
          </a:p>
          <a:p>
            <a:pPr lvl="1">
              <a:spcAft>
                <a:spcPts val="400"/>
              </a:spcAft>
              <a:defRPr sz="1250">
                <a:solidFill>
                  <a:srgbClr val="1E293B"/>
                </a:solidFill>
                <a:latin typeface="Calibri"/>
              </a:defRPr>
            </a:pPr>
            <a:r>
              <a:t>  Es preferible clasificar una parroquia como riesgosa aunque no lo sea</a:t>
            </a:r>
          </a:p>
          <a:p>
            <a:pPr lvl="1">
              <a:spcAft>
                <a:spcPts val="400"/>
              </a:spcAft>
              <a:defRPr sz="1250">
                <a:solidFill>
                  <a:srgbClr val="1E293B"/>
                </a:solidFill>
                <a:latin typeface="Calibri"/>
              </a:defRPr>
            </a:pPr>
            <a:r>
              <a:t>  A no detectar una que si esta en riesgo y no tomar medidas</a:t>
            </a:r>
          </a:p>
          <a:p>
            <a:pPr>
              <a:spcAft>
                <a:spcPts val="400"/>
              </a:spcAft>
              <a:defRPr sz="1250">
                <a:solidFill>
                  <a:srgbClr val="1E293B"/>
                </a:solidFill>
                <a:latin typeface="Calibri"/>
              </a:defRPr>
            </a:pPr>
          </a:p>
          <a:p>
            <a:pPr>
              <a:spcAft>
                <a:spcPts val="400"/>
              </a:spcAft>
              <a:defRPr sz="1250">
                <a:solidFill>
                  <a:srgbClr val="1E293B"/>
                </a:solidFill>
                <a:latin typeface="Calibri"/>
              </a:defRPr>
            </a:pPr>
            <a:r>
              <a:t>Curva ROC: AUC promedio de 0.89</a:t>
            </a:r>
          </a:p>
          <a:p>
            <a:pPr lvl="1">
              <a:spcAft>
                <a:spcPts val="400"/>
              </a:spcAft>
              <a:defRPr sz="1250">
                <a:solidFill>
                  <a:srgbClr val="1E293B"/>
                </a:solidFill>
                <a:latin typeface="Calibri"/>
              </a:defRPr>
            </a:pPr>
            <a:r>
              <a:t>  Clase Bajo: 0.92  |  Clase Medio: 0.87  |  Clase Alto: 0.88</a:t>
            </a:r>
          </a:p>
        </p:txBody>
      </p:sp>
      <p:pic>
        <p:nvPicPr>
          <p:cNvPr id="6" name="Picture 5" descr="matriz_confusion_optimizada.png"/>
          <p:cNvPicPr>
            <a:picLocks noChangeAspect="1"/>
          </p:cNvPicPr>
          <p:nvPr/>
        </p:nvPicPr>
        <p:blipFill>
          <a:blip r:embed="rId2"/>
          <a:stretch>
            <a:fillRect/>
          </a:stretch>
        </p:blipFill>
        <p:spPr>
          <a:xfrm>
            <a:off x="6309360" y="1280160"/>
            <a:ext cx="5486400" cy="51206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Calibri"/>
              </a:defRPr>
            </a:pPr>
            <a:r>
              <a:t>Features, App Web y Conclusiones</a:t>
            </a:r>
          </a:p>
        </p:txBody>
      </p:sp>
      <p:sp>
        <p:nvSpPr>
          <p:cNvPr id="4" name="Rectangle 3"/>
          <p:cNvSpPr/>
          <p:nvPr/>
        </p:nvSpPr>
        <p:spPr>
          <a:xfrm>
            <a:off x="0" y="100584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5669280" cy="5029200"/>
          </a:xfrm>
          <a:prstGeom prst="rect">
            <a:avLst/>
          </a:prstGeom>
          <a:noFill/>
        </p:spPr>
        <p:txBody>
          <a:bodyPr wrap="square">
            <a:spAutoFit/>
          </a:bodyPr>
          <a:lstStyle/>
          <a:p>
            <a:pPr>
              <a:spcAft>
                <a:spcPts val="400"/>
              </a:spcAft>
              <a:defRPr sz="1250">
                <a:solidFill>
                  <a:srgbClr val="1E293B"/>
                </a:solidFill>
                <a:latin typeface="Calibri"/>
              </a:defRPr>
            </a:pPr>
            <a:r>
              <a:t>Top 5 variables mas importantes (Random Forest):</a:t>
            </a:r>
          </a:p>
          <a:p>
            <a:pPr lvl="1">
              <a:spcAft>
                <a:spcPts val="400"/>
              </a:spcAft>
              <a:defRPr sz="1250">
                <a:solidFill>
                  <a:srgbClr val="1E293B"/>
                </a:solidFill>
                <a:latin typeface="Calibri"/>
              </a:defRPr>
            </a:pPr>
            <a:r>
              <a:t>  1. Distancia al agua:           23.3%  -- factor mas determinante</a:t>
            </a:r>
          </a:p>
          <a:p>
            <a:pPr lvl="1">
              <a:spcAft>
                <a:spcPts val="400"/>
              </a:spcAft>
              <a:defRPr sz="1250">
                <a:solidFill>
                  <a:srgbClr val="1E293B"/>
                </a:solidFill>
                <a:latin typeface="Calibri"/>
              </a:defRPr>
            </a:pPr>
            <a:r>
              <a:t>  2. Pendiente del terreno:       15.2%</a:t>
            </a:r>
          </a:p>
          <a:p>
            <a:pPr lvl="1">
              <a:spcAft>
                <a:spcPts val="400"/>
              </a:spcAft>
              <a:defRPr sz="1250">
                <a:solidFill>
                  <a:srgbClr val="1E293B"/>
                </a:solidFill>
                <a:latin typeface="Calibri"/>
              </a:defRPr>
            </a:pPr>
            <a:r>
              <a:t>  3. Precipitacion anual:         14.3%</a:t>
            </a:r>
          </a:p>
          <a:p>
            <a:pPr lvl="1">
              <a:spcAft>
                <a:spcPts val="400"/>
              </a:spcAft>
              <a:defRPr sz="1250">
                <a:solidFill>
                  <a:srgbClr val="1E293B"/>
                </a:solidFill>
                <a:latin typeface="Calibri"/>
              </a:defRPr>
            </a:pPr>
            <a:r>
              <a:t>  4. Densidad poblacional:         8.7%</a:t>
            </a:r>
          </a:p>
          <a:p>
            <a:pPr lvl="1">
              <a:spcAft>
                <a:spcPts val="400"/>
              </a:spcAft>
              <a:defRPr sz="1250">
                <a:solidFill>
                  <a:srgbClr val="1E293B"/>
                </a:solidFill>
                <a:latin typeface="Calibri"/>
              </a:defRPr>
            </a:pPr>
            <a:r>
              <a:t>  5. Area urbanizada:              6.7%</a:t>
            </a:r>
          </a:p>
          <a:p>
            <a:pPr lvl="1">
              <a:spcAft>
                <a:spcPts val="400"/>
              </a:spcAft>
              <a:defRPr sz="1250">
                <a:solidFill>
                  <a:srgbClr val="1E293B"/>
                </a:solidFill>
                <a:latin typeface="Calibri"/>
              </a:defRPr>
            </a:pPr>
            <a:r>
              <a:t>  Las 3 primeras confirman los fundamentos fisicos del riesgo de inundacion</a:t>
            </a:r>
          </a:p>
          <a:p>
            <a:pPr>
              <a:spcAft>
                <a:spcPts val="400"/>
              </a:spcAft>
              <a:defRPr sz="1250">
                <a:solidFill>
                  <a:srgbClr val="1E293B"/>
                </a:solidFill>
                <a:latin typeface="Calibri"/>
              </a:defRPr>
            </a:pPr>
          </a:p>
          <a:p>
            <a:pPr>
              <a:spcAft>
                <a:spcPts val="400"/>
              </a:spcAft>
              <a:defRPr sz="1250">
                <a:solidFill>
                  <a:srgbClr val="1E293B"/>
                </a:solidFill>
                <a:latin typeface="Calibri"/>
              </a:defRPr>
            </a:pPr>
            <a:r>
              <a:t>Variables INEC con mayor peso:</a:t>
            </a:r>
          </a:p>
          <a:p>
            <a:pPr lvl="1">
              <a:spcAft>
                <a:spcPts val="400"/>
              </a:spcAft>
              <a:defRPr sz="1250">
                <a:solidFill>
                  <a:srgbClr val="1E293B"/>
                </a:solidFill>
                <a:latin typeface="Calibri"/>
              </a:defRPr>
            </a:pPr>
            <a:r>
              <a:t>  HOG_HACINAMIENTO: 3.2%, VIV_PERS_POR_DORM: 2.7%, POB_EDAD_MEDIA: ~2%</a:t>
            </a:r>
          </a:p>
          <a:p>
            <a:pPr lvl="1">
              <a:spcAft>
                <a:spcPts val="400"/>
              </a:spcAft>
              <a:defRPr sz="1250">
                <a:solidFill>
                  <a:srgbClr val="1E293B"/>
                </a:solidFill>
                <a:latin typeface="Calibri"/>
              </a:defRPr>
            </a:pPr>
            <a:r>
              <a:t>  La vulnerabilidad social es un factor relevante aunque de menor magnitud</a:t>
            </a:r>
          </a:p>
          <a:p>
            <a:pPr>
              <a:spcAft>
                <a:spcPts val="400"/>
              </a:spcAft>
              <a:defRPr sz="1250">
                <a:solidFill>
                  <a:srgbClr val="1E293B"/>
                </a:solidFill>
                <a:latin typeface="Calibri"/>
              </a:defRPr>
            </a:pPr>
          </a:p>
          <a:p>
            <a:pPr>
              <a:spcAft>
                <a:spcPts val="400"/>
              </a:spcAft>
              <a:defRPr sz="1250">
                <a:solidFill>
                  <a:srgbClr val="1E293B"/>
                </a:solidFill>
                <a:latin typeface="Calibri"/>
              </a:defRPr>
            </a:pPr>
            <a:r>
              <a:t>App web desplegada: riesgo-inundacion.onrender.com</a:t>
            </a:r>
          </a:p>
          <a:p>
            <a:pPr lvl="1">
              <a:spcAft>
                <a:spcPts val="400"/>
              </a:spcAft>
              <a:defRPr sz="1250">
                <a:solidFill>
                  <a:srgbClr val="1E293B"/>
                </a:solidFill>
                <a:latin typeface="Calibri"/>
              </a:defRPr>
            </a:pPr>
            <a:r>
              <a:t>  Flask + Leaflet + modelo Joblib + Render (produccion)</a:t>
            </a:r>
          </a:p>
          <a:p>
            <a:pPr lvl="1">
              <a:spcAft>
                <a:spcPts val="400"/>
              </a:spcAft>
              <a:defRPr sz="1250">
                <a:solidFill>
                  <a:srgbClr val="1E293B"/>
                </a:solidFill>
                <a:latin typeface="Calibri"/>
              </a:defRPr>
            </a:pPr>
            <a:r>
              <a:t>  Mapa con 63 parroquias coloreadas por nivel de riesgo</a:t>
            </a:r>
          </a:p>
          <a:p>
            <a:pPr lvl="1">
              <a:spcAft>
                <a:spcPts val="400"/>
              </a:spcAft>
              <a:defRPr sz="1250">
                <a:solidFill>
                  <a:srgbClr val="1E293B"/>
                </a:solidFill>
                <a:latin typeface="Calibri"/>
              </a:defRPr>
            </a:pPr>
            <a:r>
              <a:t>  Hover: nombre, canton y provincia | Popup: riesgo + probabilidades</a:t>
            </a:r>
          </a:p>
          <a:p>
            <a:pPr lvl="1">
              <a:spcAft>
                <a:spcPts val="400"/>
              </a:spcAft>
              <a:defRPr sz="1250">
                <a:solidFill>
                  <a:srgbClr val="1E293B"/>
                </a:solidFill>
                <a:latin typeface="Calibri"/>
              </a:defRPr>
            </a:pPr>
            <a:r>
              <a:t>  Formulario de prediccion personalizada con datos censales reales</a:t>
            </a:r>
          </a:p>
          <a:p>
            <a:pPr>
              <a:spcAft>
                <a:spcPts val="400"/>
              </a:spcAft>
              <a:defRPr sz="1250">
                <a:solidFill>
                  <a:srgbClr val="1E293B"/>
                </a:solidFill>
                <a:latin typeface="Calibri"/>
              </a:defRPr>
            </a:pPr>
          </a:p>
          <a:p>
            <a:pPr>
              <a:spcAft>
                <a:spcPts val="400"/>
              </a:spcAft>
              <a:defRPr sz="1250">
                <a:solidFill>
                  <a:srgbClr val="1E293B"/>
                </a:solidFill>
                <a:latin typeface="Calibri"/>
              </a:defRPr>
            </a:pPr>
            <a:r>
              <a:t>Conclusiones principales:</a:t>
            </a:r>
          </a:p>
          <a:p>
            <a:pPr lvl="1">
              <a:spcAft>
                <a:spcPts val="400"/>
              </a:spcAft>
              <a:defRPr sz="1250">
                <a:solidFill>
                  <a:srgbClr val="1E293B"/>
                </a:solidFill>
                <a:latin typeface="Calibri"/>
              </a:defRPr>
            </a:pPr>
            <a:r>
              <a:t>  1. Clasificacion de riesgo posible usando solo datos abiertos del Ecuador</a:t>
            </a:r>
          </a:p>
          <a:p>
            <a:pPr lvl="1">
              <a:spcAft>
                <a:spcPts val="400"/>
              </a:spcAft>
              <a:defRPr sz="1250">
                <a:solidFill>
                  <a:srgbClr val="1E293B"/>
                </a:solidFill>
                <a:latin typeface="Calibri"/>
              </a:defRPr>
            </a:pPr>
            <a:r>
              <a:t>  2. Arboles de decision: mejor equilibrio precision-interpretabilidad</a:t>
            </a:r>
          </a:p>
          <a:p>
            <a:pPr lvl="1">
              <a:spcAft>
                <a:spcPts val="400"/>
              </a:spcAft>
              <a:defRPr sz="1250">
                <a:solidFill>
                  <a:srgbClr val="1E293B"/>
                </a:solidFill>
                <a:latin typeface="Calibri"/>
              </a:defRPr>
            </a:pPr>
            <a:r>
              <a:t>  3. Distancia al agua, pendiente y precipitacion: fundamentos fisicos validados</a:t>
            </a:r>
          </a:p>
          <a:p>
            <a:pPr lvl="1">
              <a:spcAft>
                <a:spcPts val="400"/>
              </a:spcAft>
              <a:defRPr sz="1250">
                <a:solidFill>
                  <a:srgbClr val="1E293B"/>
                </a:solidFill>
                <a:latin typeface="Calibri"/>
              </a:defRPr>
            </a:pPr>
            <a:r>
              <a:t>  4. Variables INEC: la vulnerabilidad social SI importa en la evaluacion de riesgo</a:t>
            </a:r>
          </a:p>
          <a:p>
            <a:pPr>
              <a:spcAft>
                <a:spcPts val="400"/>
              </a:spcAft>
              <a:defRPr sz="1250">
                <a:solidFill>
                  <a:srgbClr val="1E293B"/>
                </a:solidFill>
                <a:latin typeface="Calibri"/>
              </a:defRPr>
            </a:pPr>
          </a:p>
          <a:p>
            <a:pPr>
              <a:spcAft>
                <a:spcPts val="400"/>
              </a:spcAft>
              <a:defRPr sz="1250">
                <a:solidFill>
                  <a:srgbClr val="1E293B"/>
                </a:solidFill>
                <a:latin typeface="Calibri"/>
              </a:defRPr>
            </a:pPr>
            <a:r>
              <a:t>Limitaciones: 63 parroquias (solo Esmeraldas), desbalanceo clase Alto (18%),</a:t>
            </a:r>
          </a:p>
          <a:p>
            <a:pPr lvl="1">
              <a:spcAft>
                <a:spcPts val="400"/>
              </a:spcAft>
              <a:defRPr sz="1250">
                <a:solidFill>
                  <a:srgbClr val="1E293B"/>
                </a:solidFill>
                <a:latin typeface="Calibri"/>
              </a:defRPr>
            </a:pPr>
            <a:r>
              <a:t>  sin variables temporales (estacionalidad, cambio climatico)</a:t>
            </a:r>
          </a:p>
          <a:p>
            <a:pPr>
              <a:spcAft>
                <a:spcPts val="400"/>
              </a:spcAft>
              <a:defRPr sz="1250">
                <a:solidFill>
                  <a:srgbClr val="1E293B"/>
                </a:solidFill>
                <a:latin typeface="Calibri"/>
              </a:defRPr>
            </a:pPr>
            <a:r>
              <a:t>Trabajo futuro: ampliar a otras provincias, SMOTE, datos satelitales en tiempo real</a:t>
            </a:r>
          </a:p>
        </p:txBody>
      </p:sp>
      <p:pic>
        <p:nvPicPr>
          <p:cNvPr id="6" name="Picture 5" descr="importancia_caracteristicas.png"/>
          <p:cNvPicPr>
            <a:picLocks noChangeAspect="1"/>
          </p:cNvPicPr>
          <p:nvPr/>
        </p:nvPicPr>
        <p:blipFill>
          <a:blip r:embed="rId2"/>
          <a:stretch>
            <a:fillRect/>
          </a:stretch>
        </p:blipFill>
        <p:spPr>
          <a:xfrm>
            <a:off x="6309360" y="1280160"/>
            <a:ext cx="5486400" cy="2468880"/>
          </a:xfrm>
          <a:prstGeom prst="rect">
            <a:avLst/>
          </a:prstGeom>
        </p:spPr>
      </p:pic>
      <p:pic>
        <p:nvPicPr>
          <p:cNvPr id="7" name="Picture 6" descr="curva_aprendizaje.png"/>
          <p:cNvPicPr>
            <a:picLocks noChangeAspect="1"/>
          </p:cNvPicPr>
          <p:nvPr/>
        </p:nvPicPr>
        <p:blipFill>
          <a:blip r:embed="rId3"/>
          <a:stretch>
            <a:fillRect/>
          </a:stretch>
        </p:blipFill>
        <p:spPr>
          <a:xfrm>
            <a:off x="6309360" y="3886200"/>
            <a:ext cx="5486400" cy="24688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292608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4000" b="1">
                <a:solidFill>
                  <a:srgbClr val="FFFFFF"/>
                </a:solidFill>
                <a:latin typeface="Calibri"/>
              </a:defRPr>
            </a:pPr>
            <a:r>
              <a:t>Gracias por su atencion</a:t>
            </a:r>
          </a:p>
        </p:txBody>
      </p:sp>
      <p:sp>
        <p:nvSpPr>
          <p:cNvPr id="4" name="TextBox 3"/>
          <p:cNvSpPr txBox="1"/>
          <p:nvPr/>
        </p:nvSpPr>
        <p:spPr>
          <a:xfrm>
            <a:off x="914400" y="3291840"/>
            <a:ext cx="10058400" cy="731520"/>
          </a:xfrm>
          <a:prstGeom prst="rect">
            <a:avLst/>
          </a:prstGeom>
          <a:noFill/>
        </p:spPr>
        <p:txBody>
          <a:bodyPr wrap="square">
            <a:spAutoFit/>
          </a:bodyPr>
          <a:lstStyle/>
          <a:p>
            <a:pPr algn="ctr">
              <a:defRPr sz="2200" b="0">
                <a:solidFill>
                  <a:srgbClr val="B4C8E6"/>
                </a:solidFill>
                <a:latin typeface="Calibri"/>
              </a:defRPr>
            </a:pPr>
            <a:r>
              <a:t>?Preguntas?</a:t>
            </a:r>
          </a:p>
        </p:txBody>
      </p:sp>
      <p:sp>
        <p:nvSpPr>
          <p:cNvPr id="5" name="TextBox 4"/>
          <p:cNvSpPr txBox="1"/>
          <p:nvPr/>
        </p:nvSpPr>
        <p:spPr>
          <a:xfrm>
            <a:off x="914400" y="4572000"/>
            <a:ext cx="10058400" cy="548640"/>
          </a:xfrm>
          <a:prstGeom prst="rect">
            <a:avLst/>
          </a:prstGeom>
          <a:noFill/>
        </p:spPr>
        <p:txBody>
          <a:bodyPr wrap="square">
            <a:spAutoFit/>
          </a:bodyPr>
          <a:lstStyle/>
          <a:p>
            <a:pPr algn="ctr">
              <a:defRPr sz="1600" b="0">
                <a:solidFill>
                  <a:srgbClr val="3B82F6"/>
                </a:solidFill>
                <a:latin typeface="Calibri"/>
              </a:defRPr>
            </a:pPr>
            <a:r>
              <a:t>riesgo-inundacion.onrender.com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